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65"/>
    <p:restoredTop sz="94713"/>
  </p:normalViewPr>
  <p:slideViewPr>
    <p:cSldViewPr snapToGrid="0" snapToObjects="1">
      <p:cViewPr varScale="1">
        <p:scale>
          <a:sx n="126" d="100"/>
          <a:sy n="126" d="100"/>
        </p:scale>
        <p:origin x="21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8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1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9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4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2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9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81A2F-D59F-8447-830F-AD357B6030FA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D0413-6773-284F-A0B9-77687C01A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0275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PCA-Based Dimensionality Reduction: A Mathematical and Practical Approach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27522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 smtClean="0"/>
              <a:t>Mathematics and Statistics for AI</a:t>
            </a:r>
          </a:p>
          <a:p>
            <a:r>
              <a:rPr lang="en-US" sz="2000" dirty="0" smtClean="0"/>
              <a:t>Othman EL-Kurdi &amp; </a:t>
            </a:r>
            <a:r>
              <a:rPr lang="en-US" sz="2000" dirty="0" err="1" smtClean="0"/>
              <a:t>Brahim</a:t>
            </a:r>
            <a:r>
              <a:rPr lang="en-US" sz="2000" dirty="0" smtClean="0"/>
              <a:t> Ahmad</a:t>
            </a:r>
            <a:br>
              <a:rPr lang="en-US" sz="2000" dirty="0" smtClean="0"/>
            </a:br>
            <a:r>
              <a:rPr lang="en-US" sz="2000" dirty="0" smtClean="0"/>
              <a:t>Dr. </a:t>
            </a:r>
            <a:r>
              <a:rPr lang="en-US" sz="2000" dirty="0" err="1" smtClean="0"/>
              <a:t>Issam</a:t>
            </a:r>
            <a:r>
              <a:rPr lang="en-US" sz="2000" dirty="0" smtClean="0"/>
              <a:t> </a:t>
            </a:r>
            <a:r>
              <a:rPr lang="en-US" sz="2000" dirty="0" err="1" smtClean="0"/>
              <a:t>AlAzouni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462" y="232304"/>
            <a:ext cx="1879076" cy="153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Project Scope</a:t>
            </a:r>
          </a:p>
          <a:p>
            <a:r>
              <a:rPr lang="en-US" dirty="0" smtClean="0"/>
              <a:t>What is PCA?</a:t>
            </a:r>
          </a:p>
          <a:p>
            <a:r>
              <a:rPr lang="en-US" dirty="0" smtClean="0"/>
              <a:t>Motivation</a:t>
            </a:r>
          </a:p>
          <a:p>
            <a:r>
              <a:rPr lang="en-US" dirty="0" smtClean="0"/>
              <a:t>Mathematical definition</a:t>
            </a:r>
          </a:p>
          <a:p>
            <a:r>
              <a:rPr lang="en-US" dirty="0" smtClean="0"/>
              <a:t>MSE Results by Component Count</a:t>
            </a:r>
          </a:p>
          <a:p>
            <a:r>
              <a:rPr lang="en-US" dirty="0" smtClean="0"/>
              <a:t>2D PCA Projection of Dog Images</a:t>
            </a:r>
          </a:p>
          <a:p>
            <a:r>
              <a:rPr lang="en-US" dirty="0" smtClean="0"/>
              <a:t>Top 5 </a:t>
            </a:r>
            <a:r>
              <a:rPr lang="en-US" dirty="0" err="1" smtClean="0"/>
              <a:t>Eignevalues</a:t>
            </a:r>
            <a:endParaRPr lang="en-US" dirty="0" smtClean="0"/>
          </a:p>
          <a:p>
            <a:r>
              <a:rPr lang="en-US" dirty="0" smtClean="0"/>
              <a:t>Result</a:t>
            </a:r>
          </a:p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65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Principal Component Analysis (PCA) in Image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 smtClean="0"/>
              <a:t>PCA is a fundamental dimensionality-reduction technique in data science, computer vision, and machine learning.</a:t>
            </a:r>
          </a:p>
          <a:p>
            <a:endParaRPr lang="en-US" dirty="0" smtClean="0"/>
          </a:p>
          <a:p>
            <a:r>
              <a:rPr lang="en-US" b="1" dirty="0" smtClean="0"/>
              <a:t>Goal</a:t>
            </a:r>
            <a:r>
              <a:rPr lang="en-US" dirty="0" smtClean="0"/>
              <a:t>: To demonstrate how reconstruction quality varies as the number of principal components increases.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58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 smtClean="0"/>
              <a:t>Applied PCA to a dataset of grayscale images.</a:t>
            </a:r>
          </a:p>
          <a:p>
            <a:endParaRPr lang="en-US" b="1" dirty="0" smtClean="0"/>
          </a:p>
          <a:p>
            <a:r>
              <a:rPr lang="en-US" b="1" dirty="0" smtClean="0"/>
              <a:t>Data Processing:</a:t>
            </a:r>
            <a:r>
              <a:rPr lang="en-US" dirty="0" smtClean="0"/>
              <a:t> Images resized to 64x64 pixels and flattened into 4096-dimensional feature vectors.</a:t>
            </a:r>
          </a:p>
        </p:txBody>
      </p:sp>
    </p:spTree>
    <p:extLst>
      <p:ext uri="{BB962C8B-B14F-4D97-AF65-F5344CB8AC3E}">
        <p14:creationId xmlns:p14="http://schemas.microsoft.com/office/powerpoint/2010/main" val="148576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PCA and Why Use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b="1" dirty="0" smtClean="0"/>
              <a:t>Definition:</a:t>
            </a:r>
            <a:r>
              <a:rPr lang="en-US" dirty="0" smtClean="0"/>
              <a:t> PCA (Principal Component Analysis) is a linear transformation method designed to reduce the dimensionality of high-dimensional data while maximizing retained variability (information).</a:t>
            </a:r>
          </a:p>
          <a:p>
            <a:r>
              <a:rPr lang="en-US" b="1" dirty="0" smtClean="0"/>
              <a:t>Mechanism:</a:t>
            </a:r>
            <a:r>
              <a:rPr lang="en-US" dirty="0" smtClean="0"/>
              <a:t> It identifies new orthogonal axes, known as </a:t>
            </a:r>
            <a:r>
              <a:rPr lang="en-US" b="1" dirty="0" smtClean="0"/>
              <a:t>Principal Components</a:t>
            </a:r>
            <a:r>
              <a:rPr lang="en-US" dirty="0" smtClean="0"/>
              <a:t>, which align with the directions of maximum variance within the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73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Redundancy Reduction:</a:t>
            </a:r>
            <a:r>
              <a:rPr lang="en-US" dirty="0" smtClean="0"/>
              <a:t> High-dimensional data (like images) often contains redundant information (e.g., correlated pixel intensities).</a:t>
            </a:r>
          </a:p>
          <a:p>
            <a:r>
              <a:rPr lang="en-US" b="1" dirty="0" smtClean="0"/>
              <a:t>Compression:</a:t>
            </a:r>
            <a:r>
              <a:rPr lang="en-US" dirty="0" smtClean="0"/>
              <a:t> PCA compresses data by eliminating this redundancy.</a:t>
            </a:r>
          </a:p>
          <a:p>
            <a:r>
              <a:rPr lang="en-US" b="1" dirty="0" smtClean="0"/>
              <a:t>Structure Preservation:</a:t>
            </a:r>
            <a:r>
              <a:rPr lang="en-US" dirty="0" smtClean="0"/>
              <a:t> It projects data onto a lower-dimensional space, effectively preserving the essential structure while discarding less critical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3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the mean vector </a:t>
            </a:r>
            <a:r>
              <a:rPr lang="en-US" dirty="0" err="1" smtClean="0"/>
              <a:t>μ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26" y="2564090"/>
            <a:ext cx="8606347" cy="2254043"/>
          </a:xfrm>
        </p:spPr>
      </p:pic>
    </p:spTree>
    <p:extLst>
      <p:ext uri="{BB962C8B-B14F-4D97-AF65-F5344CB8AC3E}">
        <p14:creationId xmlns:p14="http://schemas.microsoft.com/office/powerpoint/2010/main" val="213153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 the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19030"/>
          </a:xfrm>
        </p:spPr>
        <p:txBody>
          <a:bodyPr anchor="b"/>
          <a:lstStyle/>
          <a:p>
            <a:r>
              <a:rPr lang="en-US" dirty="0" smtClean="0"/>
              <a:t>where 1n ∈ Rn×1 is a column vector of ones.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41" y="2687782"/>
            <a:ext cx="4256318" cy="122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74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the covariance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55975"/>
          </a:xfrm>
        </p:spPr>
        <p:txBody>
          <a:bodyPr anchor="b"/>
          <a:lstStyle/>
          <a:p>
            <a:r>
              <a:rPr lang="en-US" dirty="0" smtClean="0"/>
              <a:t>This results in a symmetric matrix </a:t>
            </a:r>
            <a:r>
              <a:rPr lang="en-US" dirty="0" err="1" smtClean="0"/>
              <a:t>Cov</a:t>
            </a:r>
            <a:r>
              <a:rPr lang="en-US" dirty="0" smtClean="0"/>
              <a:t>[X] ∈ </a:t>
            </a:r>
            <a:r>
              <a:rPr lang="en-US" dirty="0" err="1" smtClean="0"/>
              <a:t>R</a:t>
            </a:r>
            <a:r>
              <a:rPr lang="en-US" baseline="30000" dirty="0" err="1" smtClean="0"/>
              <a:t>d×d</a:t>
            </a:r>
            <a:r>
              <a:rPr lang="en-US" baseline="30000" dirty="0" smtClean="0"/>
              <a:t>.</a:t>
            </a:r>
            <a:endParaRPr lang="en-US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540" y="2736129"/>
            <a:ext cx="5893706" cy="125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eigenvalues and eigenvectors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654" y="2565039"/>
            <a:ext cx="4950691" cy="1431059"/>
          </a:xfrm>
        </p:spPr>
      </p:pic>
      <p:sp>
        <p:nvSpPr>
          <p:cNvPr id="6" name="TextBox 5"/>
          <p:cNvSpPr txBox="1"/>
          <p:nvPr/>
        </p:nvSpPr>
        <p:spPr>
          <a:xfrm>
            <a:off x="838200" y="4270284"/>
            <a:ext cx="69679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where:</a:t>
            </a:r>
          </a:p>
          <a:p>
            <a:r>
              <a:rPr lang="en-US" sz="2400" dirty="0" smtClean="0"/>
              <a:t>• </a:t>
            </a:r>
            <a:r>
              <a:rPr lang="en-US" sz="2400" dirty="0" err="1" smtClean="0"/>
              <a:t>Cov</a:t>
            </a:r>
            <a:r>
              <a:rPr lang="en-US" sz="2400" dirty="0" smtClean="0"/>
              <a:t>[X] : is the covariance matrix from step 3</a:t>
            </a:r>
          </a:p>
          <a:p>
            <a:r>
              <a:rPr lang="en-US" sz="2400" dirty="0" smtClean="0"/>
              <a:t>• v : is the </a:t>
            </a:r>
            <a:r>
              <a:rPr lang="en-US" sz="2400" dirty="0" err="1" smtClean="0"/>
              <a:t>eigenv</a:t>
            </a:r>
            <a:r>
              <a:rPr lang="en-US" sz="2400" dirty="0" smtClean="0"/>
              <a:t> </a:t>
            </a:r>
            <a:r>
              <a:rPr lang="en-US" sz="2400" dirty="0" err="1" smtClean="0"/>
              <a:t>ector</a:t>
            </a:r>
            <a:r>
              <a:rPr lang="en-US" sz="2400" dirty="0" smtClean="0"/>
              <a:t>, which we need to calculate</a:t>
            </a:r>
          </a:p>
          <a:p>
            <a:r>
              <a:rPr lang="en-US" sz="2400" dirty="0" smtClean="0"/>
              <a:t>• </a:t>
            </a:r>
            <a:r>
              <a:rPr lang="en-US" sz="2400" dirty="0" err="1" smtClean="0"/>
              <a:t>λ</a:t>
            </a:r>
            <a:r>
              <a:rPr lang="en-US" sz="2400" dirty="0" smtClean="0"/>
              <a:t> : is the eigenvalue, which we need to calculate too.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763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MSE Results by Component Count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31" y="1836642"/>
            <a:ext cx="9364337" cy="4351338"/>
          </a:xfrm>
        </p:spPr>
      </p:pic>
    </p:spTree>
    <p:extLst>
      <p:ext uri="{BB962C8B-B14F-4D97-AF65-F5344CB8AC3E}">
        <p14:creationId xmlns:p14="http://schemas.microsoft.com/office/powerpoint/2010/main" val="204398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2D PCA Projection of Dog Images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08" y="1690688"/>
            <a:ext cx="6806184" cy="5024628"/>
          </a:xfrm>
        </p:spPr>
      </p:pic>
    </p:spTree>
    <p:extLst>
      <p:ext uri="{BB962C8B-B14F-4D97-AF65-F5344CB8AC3E}">
        <p14:creationId xmlns:p14="http://schemas.microsoft.com/office/powerpoint/2010/main" val="8676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</a:t>
            </a:r>
            <a:r>
              <a:rPr lang="en-US" dirty="0" err="1" smtClean="0"/>
              <a:t>Eignevalues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49" y="1690688"/>
            <a:ext cx="6801451" cy="4351338"/>
          </a:xfrm>
        </p:spPr>
      </p:pic>
      <p:sp>
        <p:nvSpPr>
          <p:cNvPr id="5" name="TextBox 4"/>
          <p:cNvSpPr txBox="1"/>
          <p:nvPr/>
        </p:nvSpPr>
        <p:spPr>
          <a:xfrm>
            <a:off x="710901" y="2793103"/>
            <a:ext cx="3175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top 5 eigenvalues can be displayed as follows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λ1 = </a:t>
            </a:r>
            <a:r>
              <a:rPr lang="en-US" dirty="0" smtClean="0"/>
              <a:t>3.53e+06</a:t>
            </a:r>
          </a:p>
          <a:p>
            <a:r>
              <a:rPr lang="en-US" dirty="0" smtClean="0"/>
              <a:t>• </a:t>
            </a:r>
            <a:r>
              <a:rPr lang="en-US" dirty="0"/>
              <a:t>λ2 = </a:t>
            </a:r>
            <a:r>
              <a:rPr lang="en-US" dirty="0" smtClean="0"/>
              <a:t>1.89e+06</a:t>
            </a:r>
          </a:p>
          <a:p>
            <a:r>
              <a:rPr lang="en-US" dirty="0" smtClean="0"/>
              <a:t>• </a:t>
            </a:r>
            <a:r>
              <a:rPr lang="en-US" dirty="0"/>
              <a:t>λ3 = </a:t>
            </a:r>
            <a:r>
              <a:rPr lang="en-US" dirty="0" smtClean="0"/>
              <a:t>1.40e+06</a:t>
            </a:r>
          </a:p>
          <a:p>
            <a:r>
              <a:rPr lang="en-US" dirty="0" smtClean="0"/>
              <a:t>• </a:t>
            </a:r>
            <a:r>
              <a:rPr lang="en-US" dirty="0"/>
              <a:t>λ4 = </a:t>
            </a:r>
            <a:r>
              <a:rPr lang="en-US" dirty="0" smtClean="0"/>
              <a:t>1.21e+06</a:t>
            </a:r>
          </a:p>
          <a:p>
            <a:r>
              <a:rPr lang="en-US" dirty="0" smtClean="0"/>
              <a:t>• </a:t>
            </a:r>
            <a:r>
              <a:rPr lang="en-US" dirty="0"/>
              <a:t>λ5 = 9.20e+05</a:t>
            </a:r>
          </a:p>
        </p:txBody>
      </p:sp>
    </p:spTree>
    <p:extLst>
      <p:ext uri="{BB962C8B-B14F-4D97-AF65-F5344CB8AC3E}">
        <p14:creationId xmlns:p14="http://schemas.microsoft.com/office/powerpoint/2010/main" val="191812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840" y="1690688"/>
            <a:ext cx="8686800" cy="3630168"/>
          </a:xfrm>
        </p:spPr>
      </p:pic>
    </p:spTree>
    <p:extLst>
      <p:ext uri="{BB962C8B-B14F-4D97-AF65-F5344CB8AC3E}">
        <p14:creationId xmlns:p14="http://schemas.microsoft.com/office/powerpoint/2010/main" val="150505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principal components increase, the eigenvalue will decrease</a:t>
            </a:r>
            <a:r>
              <a:rPr lang="en-US" dirty="0" smtClean="0"/>
              <a:t>. Thus</a:t>
            </a:r>
            <a:r>
              <a:rPr lang="en-US" dirty="0"/>
              <a:t>, it is recommended to use more number of principal components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After applying </a:t>
            </a:r>
            <a:r>
              <a:rPr lang="en-US" dirty="0"/>
              <a:t>the PCA, the images resolution is constructed, but still preserved </a:t>
            </a:r>
            <a:r>
              <a:rPr lang="en-US" dirty="0" err="1"/>
              <a:t>andcan</a:t>
            </a:r>
            <a:r>
              <a:rPr lang="en-US" dirty="0"/>
              <a:t> be turned into the original images.</a:t>
            </a:r>
          </a:p>
        </p:txBody>
      </p:sp>
    </p:spTree>
    <p:extLst>
      <p:ext uri="{BB962C8B-B14F-4D97-AF65-F5344CB8AC3E}">
        <p14:creationId xmlns:p14="http://schemas.microsoft.com/office/powerpoint/2010/main" val="102909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S. </a:t>
            </a:r>
            <a:r>
              <a:rPr lang="en-US" dirty="0" err="1"/>
              <a:t>Marukatat</a:t>
            </a:r>
            <a:r>
              <a:rPr lang="en-US" dirty="0"/>
              <a:t>, “Tutorial on PCA and approximate PCA and approximate kernel </a:t>
            </a:r>
            <a:r>
              <a:rPr lang="en-US" dirty="0" err="1"/>
              <a:t>PCA,”Artificial</a:t>
            </a:r>
            <a:r>
              <a:rPr lang="en-US" dirty="0"/>
              <a:t> Intelligence Review, vol. 56, no. 6, pp. 5445–5477, 2023</a:t>
            </a:r>
            <a:r>
              <a:rPr lang="en-US" dirty="0" smtClean="0"/>
              <a:t>.</a:t>
            </a:r>
          </a:p>
          <a:p>
            <a:r>
              <a:rPr lang="en-US" dirty="0" smtClean="0"/>
              <a:t>M</a:t>
            </a:r>
            <a:r>
              <a:rPr lang="en-US" dirty="0"/>
              <a:t>. P. </a:t>
            </a:r>
            <a:r>
              <a:rPr lang="en-US" dirty="0" err="1"/>
              <a:t>Deisenroth</a:t>
            </a:r>
            <a:r>
              <a:rPr lang="en-US" dirty="0"/>
              <a:t>, A. A. Faisal, and C. S. Ong, Mathematics for Machine Learning. Cam-bridge, UK: Cambridge University Press, 2020.</a:t>
            </a:r>
          </a:p>
        </p:txBody>
      </p:sp>
    </p:spTree>
    <p:extLst>
      <p:ext uri="{BB962C8B-B14F-4D97-AF65-F5344CB8AC3E}">
        <p14:creationId xmlns:p14="http://schemas.microsoft.com/office/powerpoint/2010/main" val="137873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5035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/>
              <a:t>Thank you!</a:t>
            </a:r>
            <a:br>
              <a:rPr lang="en-US" sz="6600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9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472</Words>
  <Application>Microsoft Macintosh PowerPoint</Application>
  <PresentationFormat>Widescreen</PresentationFormat>
  <Paragraphs>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Arial</vt:lpstr>
      <vt:lpstr>Office Theme</vt:lpstr>
      <vt:lpstr>PCA-Based Dimensionality Reduction: A Mathematical and Practical Approach</vt:lpstr>
      <vt:lpstr>Outlines</vt:lpstr>
      <vt:lpstr>Introduction to Principal Component Analysis (PCA) in Image Processing</vt:lpstr>
      <vt:lpstr>Project Scope</vt:lpstr>
      <vt:lpstr>What is PCA and Why Use It?</vt:lpstr>
      <vt:lpstr>Motivation</vt:lpstr>
      <vt:lpstr>Compute the mean vector μ</vt:lpstr>
      <vt:lpstr>Center the data</vt:lpstr>
      <vt:lpstr>Compute the covariance matrix</vt:lpstr>
      <vt:lpstr>Find eigenvalues and eigenvectors</vt:lpstr>
      <vt:lpstr>MSE Results by Component Count</vt:lpstr>
      <vt:lpstr>2D PCA Projection of Dog Images</vt:lpstr>
      <vt:lpstr>Top 5 Eignevalues</vt:lpstr>
      <vt:lpstr>Result</vt:lpstr>
      <vt:lpstr>Result</vt:lpstr>
      <vt:lpstr>References</vt:lpstr>
      <vt:lpstr>Thank you!  Questions?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PCA-Based Dimensionality Reduction: A Mathematical and Practical Approach</dc:title>
  <dc:creator>OTHMAN HISHAM OTHMAN EL-KURDI</dc:creator>
  <cp:lastModifiedBy>OTHMAN HISHAM OTHMAN EL-KURDI</cp:lastModifiedBy>
  <cp:revision>9</cp:revision>
  <dcterms:created xsi:type="dcterms:W3CDTF">2025-12-07T17:36:25Z</dcterms:created>
  <dcterms:modified xsi:type="dcterms:W3CDTF">2025-12-07T19:17:33Z</dcterms:modified>
</cp:coreProperties>
</file>